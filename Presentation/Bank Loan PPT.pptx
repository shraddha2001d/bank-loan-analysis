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B50"/>
    <a:srgbClr val="00153E"/>
    <a:srgbClr val="FFFF00"/>
    <a:srgbClr val="3399FF"/>
    <a:srgbClr val="001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BD12-6C60-C4A7-7048-90C81CEA2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91E47-6715-35EC-CE5D-FA9576A7D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0566C-0D56-91C9-129C-0AEA4F5B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58766-7804-8467-FEF5-FE021AE6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3B83-7FF5-FD9A-184B-070A70E2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8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AEC6-6507-8038-DE1E-06DEC711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EB5B-CBBD-39F5-D5F1-184F9E23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B1E38-E867-9462-E669-78FB6138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F672-239C-73ED-DE71-8A2A6891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539C-C80D-4759-1593-49EA7F40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3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D27F-CC0F-6943-E24C-8A573B4B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0B8F-09A9-ED0E-B562-9CBD14E90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AA166-C38E-0475-4659-580DFB47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32F46-64D6-AB7E-04FB-81590A7A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2744-CDC5-04AE-B415-7149C1AE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4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1321-A5E6-AB68-B912-F98D6D22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4CB82-104A-1F5E-A146-78B37ED09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D8366-B601-09B3-D95B-53AF09F41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D8299-0AE5-9FB0-26D8-82A6DAB8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6F5AC-3C29-BDAC-B2B7-374689D8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E76C3-BBA8-6229-6EA8-609A1016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84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1593-13CD-55D4-3C77-DFE4F943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5E6E2-16E0-DB67-C5CA-D3E9F0EF9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DE833-6F44-8617-04C0-35DAEB3DB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97E97-D75B-DCDC-8CE4-D7E7D2C62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51455-FC69-A8F0-49B2-EADF116CD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6CC9E-7C13-4923-A40D-3FCD354A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97345-2B50-69A2-15A0-D14032FBE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2DEAC-A83B-E6E5-9A28-E2813B46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7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4421-210C-6B76-CFF0-2CDCE6DB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81D6C-D183-C97F-A6AE-8B4501AD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7A1C7-E55A-817E-417B-BC36A53B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AFBD8-A848-7F03-E79F-C4250A92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1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99E2D-B61D-4F45-F871-4CC9F5DC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2E605-1A74-EFF2-AD53-0829CEDC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9677-15CE-A920-A2A8-06493169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4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CEE2-4851-D677-7155-FD6A4DF1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A3DE-022B-D40D-251A-8A1BF68E5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17C26-66EB-F78B-E1E0-C635F3806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1F6DE-A381-D673-522E-CF469A88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D0EA-0F9A-39E9-A979-ABF8AE13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0D183-53A4-176B-6479-EA59881B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93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C9E4-6750-EE41-5BCD-D14881B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FA923-AB3B-2303-B12D-6368F7322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0B15D-74D7-027D-745D-49EB770A0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29EB8-B109-DA89-B3AC-DCA85186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ECBA5-36AC-DA83-240D-58658E87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3ADEE-2156-4E6D-C0B4-6019507C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39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D48E-B791-2402-08C2-611D42CB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34957-7BAC-CCE4-045D-1009B7D2C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C45B-4641-0B95-6FB8-11E33AB4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C261E-4D8E-B898-2598-AA424D9F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F43D-944D-3869-2140-467A18FB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2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E09B5B-B64C-3756-00CD-44915BD94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2B907-0045-24B5-CDB0-EC9DD07BB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63A30-B782-9A34-1C71-EF5CC6EE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3116-492F-BC63-9860-06224438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71419-9C08-D829-31E5-74055453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65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BFF35-B62D-5FEE-BF2D-503264F2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DA59-329C-B918-96C3-397030C62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001A5-773E-26A0-8CEC-B7A5C53D8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A0D1F-2E8E-4985-BC0C-33B8D3AC68B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D9030-E8D0-B35B-16C2-94A540077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34777-A1DE-6A35-8021-7A2234386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E28AC-FB6D-4645-A1DB-C19589414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5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34A6E8-456E-5853-10CD-087FD31D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03437"/>
            <a:ext cx="10515600" cy="1325563"/>
          </a:xfrm>
          <a:solidFill>
            <a:srgbClr val="001B50"/>
          </a:solidFill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n>
                  <a:solidFill>
                    <a:schemeClr val="accent6"/>
                  </a:solidFill>
                </a:ln>
                <a:solidFill>
                  <a:srgbClr val="FFFF00"/>
                </a:solidFill>
                <a:effectLst/>
                <a:latin typeface="+mn-lt"/>
              </a:rPr>
              <a:t>BANK LOAN ANALYSIS</a:t>
            </a:r>
            <a:endParaRPr lang="en-IN" sz="8800" b="1" dirty="0">
              <a:ln>
                <a:solidFill>
                  <a:schemeClr val="accent6"/>
                </a:solidFill>
              </a:ln>
              <a:solidFill>
                <a:srgbClr val="FFFF00"/>
              </a:solidFill>
              <a:effectLst/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40C56-0539-1FCA-A5EE-6EA17873F2D8}"/>
              </a:ext>
            </a:extLst>
          </p:cNvPr>
          <p:cNvSpPr txBox="1"/>
          <p:nvPr/>
        </p:nvSpPr>
        <p:spPr>
          <a:xfrm>
            <a:off x="1614947" y="639098"/>
            <a:ext cx="8760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Data Analyst Portfolio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33DD2-ACD8-2BD0-8A93-7F32E32FBB64}"/>
              </a:ext>
            </a:extLst>
          </p:cNvPr>
          <p:cNvSpPr txBox="1"/>
          <p:nvPr/>
        </p:nvSpPr>
        <p:spPr>
          <a:xfrm>
            <a:off x="838199" y="3477700"/>
            <a:ext cx="10515600" cy="584775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>
                    <a:lumMod val="75000"/>
                  </a:schemeClr>
                </a:solidFill>
                <a:latin typeface="Segoe "/>
              </a:rPr>
              <a:t>End-to-End Analysis using SQL &amp; Power BI</a:t>
            </a:r>
            <a:endParaRPr lang="en-IN" sz="3200" i="1" dirty="0">
              <a:solidFill>
                <a:schemeClr val="bg1">
                  <a:lumMod val="75000"/>
                </a:schemeClr>
              </a:solidFill>
              <a:latin typeface="Segoe 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142C4-43D4-A382-0EC8-D0E62E1949C1}"/>
              </a:ext>
            </a:extLst>
          </p:cNvPr>
          <p:cNvSpPr txBox="1"/>
          <p:nvPr/>
        </p:nvSpPr>
        <p:spPr>
          <a:xfrm>
            <a:off x="2976715" y="5142270"/>
            <a:ext cx="6238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C000"/>
                </a:solidFill>
                <a:cs typeface="Arial" panose="020B0604020202020204" pitchFamily="34" charset="0"/>
              </a:rPr>
              <a:t>Name</a:t>
            </a:r>
            <a:r>
              <a:rPr lang="en-IN" sz="2800" dirty="0">
                <a:solidFill>
                  <a:schemeClr val="accent5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: Shraddha Dhanawade</a:t>
            </a:r>
            <a:br>
              <a:rPr lang="en-IN" sz="2800" dirty="0">
                <a:solidFill>
                  <a:schemeClr val="accent5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</a:br>
            <a:r>
              <a:rPr lang="en-IN" sz="2800" b="1" dirty="0">
                <a:solidFill>
                  <a:srgbClr val="FFC000"/>
                </a:solidFill>
                <a:cs typeface="Arial" panose="020B0604020202020204" pitchFamily="34" charset="0"/>
              </a:rPr>
              <a:t>Tools</a:t>
            </a:r>
            <a:r>
              <a:rPr lang="en-IN" sz="2800" dirty="0">
                <a:solidFill>
                  <a:schemeClr val="accent5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: MS SQL Server | Power BI | Excel</a:t>
            </a:r>
          </a:p>
        </p:txBody>
      </p:sp>
    </p:spTree>
    <p:extLst>
      <p:ext uri="{BB962C8B-B14F-4D97-AF65-F5344CB8AC3E}">
        <p14:creationId xmlns:p14="http://schemas.microsoft.com/office/powerpoint/2010/main" val="3179745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141294-3EC4-03FB-0D3B-1E5BF998F5DC}"/>
              </a:ext>
            </a:extLst>
          </p:cNvPr>
          <p:cNvSpPr txBox="1"/>
          <p:nvPr/>
        </p:nvSpPr>
        <p:spPr>
          <a:xfrm>
            <a:off x="3583857" y="336041"/>
            <a:ext cx="5540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Business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CBE14-36BE-20B2-C4EF-6C9F26DDFBA8}"/>
              </a:ext>
            </a:extLst>
          </p:cNvPr>
          <p:cNvSpPr txBox="1"/>
          <p:nvPr/>
        </p:nvSpPr>
        <p:spPr>
          <a:xfrm>
            <a:off x="255639" y="1720645"/>
            <a:ext cx="11700387" cy="4801314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Problem Statement</a:t>
            </a:r>
          </a:p>
          <a:p>
            <a:r>
              <a:rPr lang="en-US" sz="2800" dirty="0">
                <a:solidFill>
                  <a:schemeClr val="bg1"/>
                </a:solidFill>
              </a:rPr>
              <a:t>Banks need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Track loan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Identify good vs bad loans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Monitor monthly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Improve risk assessment &amp;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Objective: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To analyze loan data and build interactive dashboards that support </a:t>
            </a:r>
            <a:r>
              <a:rPr lang="en-US" sz="2800" b="1" dirty="0">
                <a:solidFill>
                  <a:schemeClr val="bg1"/>
                </a:solidFill>
              </a:rPr>
              <a:t>data-driven lending decisions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62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72B9E-975A-BEE0-B8C8-8C485709EEB6}"/>
              </a:ext>
            </a:extLst>
          </p:cNvPr>
          <p:cNvSpPr txBox="1"/>
          <p:nvPr/>
        </p:nvSpPr>
        <p:spPr>
          <a:xfrm>
            <a:off x="3844413" y="383458"/>
            <a:ext cx="4503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23CB8-F1DA-062A-E409-1AD1E571DB87}"/>
              </a:ext>
            </a:extLst>
          </p:cNvPr>
          <p:cNvSpPr txBox="1"/>
          <p:nvPr/>
        </p:nvSpPr>
        <p:spPr>
          <a:xfrm>
            <a:off x="255639" y="1691148"/>
            <a:ext cx="11670890" cy="3354765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Dataset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Loan application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Customer financial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Loan status &amp; repayment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Time-based loan metrics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Records:</a:t>
            </a:r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38576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B3474-5DDC-AC1E-78BC-E25B1DF575AB}"/>
              </a:ext>
            </a:extLst>
          </p:cNvPr>
          <p:cNvSpPr txBox="1"/>
          <p:nvPr/>
        </p:nvSpPr>
        <p:spPr>
          <a:xfrm>
            <a:off x="3008671" y="5801032"/>
            <a:ext cx="6174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</a:rPr>
              <a:t>Data anonymized for analysis purposes</a:t>
            </a:r>
            <a:endParaRPr lang="en-IN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0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71276-B7C8-5C72-85A4-69E02556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00F85-7F40-9C64-C9FA-729B6699E386}"/>
              </a:ext>
            </a:extLst>
          </p:cNvPr>
          <p:cNvSpPr txBox="1"/>
          <p:nvPr/>
        </p:nvSpPr>
        <p:spPr>
          <a:xfrm>
            <a:off x="3377381" y="481780"/>
            <a:ext cx="5427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Tools &amp; Technologies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15119-C822-5532-8A02-C4C9BEB050A3}"/>
              </a:ext>
            </a:extLst>
          </p:cNvPr>
          <p:cNvSpPr txBox="1"/>
          <p:nvPr/>
        </p:nvSpPr>
        <p:spPr>
          <a:xfrm>
            <a:off x="260555" y="1612490"/>
            <a:ext cx="11670890" cy="5016758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MS SQL Server</a:t>
            </a:r>
            <a:endParaRPr lang="en-IN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Database creation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SQL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KPI calculations</a:t>
            </a:r>
          </a:p>
          <a:p>
            <a:r>
              <a:rPr lang="en-I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Power 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Data cleaning (Power Query)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Data </a:t>
            </a:r>
            <a:r>
              <a:rPr lang="en-IN" sz="2800" dirty="0" err="1">
                <a:solidFill>
                  <a:schemeClr val="bg1"/>
                </a:solidFill>
              </a:rPr>
              <a:t>modeling</a:t>
            </a:r>
            <a:endParaRPr lang="en-IN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DAX measures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Interactive dashboards</a:t>
            </a:r>
          </a:p>
          <a:p>
            <a:r>
              <a:rPr lang="en-I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Excel</a:t>
            </a:r>
            <a:endParaRPr lang="en-IN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Initial data inspection</a:t>
            </a:r>
          </a:p>
        </p:txBody>
      </p:sp>
    </p:spTree>
    <p:extLst>
      <p:ext uri="{BB962C8B-B14F-4D97-AF65-F5344CB8AC3E}">
        <p14:creationId xmlns:p14="http://schemas.microsoft.com/office/powerpoint/2010/main" val="118478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9C6E85-07E3-2606-D3E0-E0DBAD041B81}"/>
              </a:ext>
            </a:extLst>
          </p:cNvPr>
          <p:cNvSpPr txBox="1"/>
          <p:nvPr/>
        </p:nvSpPr>
        <p:spPr>
          <a:xfrm>
            <a:off x="3534697" y="275303"/>
            <a:ext cx="5122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FF00"/>
                </a:solidFill>
                <a:latin typeface="Segoe "/>
              </a:rPr>
              <a:t>SQL Data Processing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4413B5-CAFD-FE4F-BEAD-C20755EC4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14" y="1277416"/>
            <a:ext cx="11238172" cy="2246769"/>
          </a:xfrm>
          <a:prstGeom prst="rect">
            <a:avLst/>
          </a:prstGeom>
          <a:solidFill>
            <a:srgbClr val="001B5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Loan data processed using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MS SQL Server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KPIs calculated: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Loan Applications, Funded Amount, Amount Received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MTD &amp; MoM performance analysis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Loans classified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Good (Fully Paid / Current) and Bad (Charged Off)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Aggregated analysis by status, state, purpose, term &amp; employment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2C1A00-AFFB-99FA-F534-EEE90355B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13" y="3818412"/>
            <a:ext cx="9615974" cy="256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289A9-3D6E-EB57-F944-20A9999B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AF221B-A078-C07C-C587-DDA20CD68A85}"/>
              </a:ext>
            </a:extLst>
          </p:cNvPr>
          <p:cNvSpPr txBox="1"/>
          <p:nvPr/>
        </p:nvSpPr>
        <p:spPr>
          <a:xfrm>
            <a:off x="3377381" y="501444"/>
            <a:ext cx="5427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KPIs Defined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DF448-9CB5-E088-DDA8-298F41E4F12A}"/>
              </a:ext>
            </a:extLst>
          </p:cNvPr>
          <p:cNvSpPr txBox="1"/>
          <p:nvPr/>
        </p:nvSpPr>
        <p:spPr>
          <a:xfrm>
            <a:off x="255639" y="1779638"/>
            <a:ext cx="11670890" cy="3600986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 Performance Indicators (KPIs)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Total Loan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Total Funded Amount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Total Amount Received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Average Interest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Average Debt-to-Income Ratio (DTI)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MTD &amp; MoM performance tracking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70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30AF6-376D-CB93-CA5E-E52F074F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C63EC-A28C-6791-A00B-A90244448F09}"/>
              </a:ext>
            </a:extLst>
          </p:cNvPr>
          <p:cNvSpPr txBox="1"/>
          <p:nvPr/>
        </p:nvSpPr>
        <p:spPr>
          <a:xfrm>
            <a:off x="3020961" y="235973"/>
            <a:ext cx="6150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Dashboard 1 –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9459F-30A8-7273-F55E-22C0F7E30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00" y="1043523"/>
            <a:ext cx="9962797" cy="5653866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8908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1BFA7-1892-17A7-481B-ADBFC57A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88D14-BF2B-2A1E-98AC-41BA5219ED40}"/>
              </a:ext>
            </a:extLst>
          </p:cNvPr>
          <p:cNvSpPr txBox="1"/>
          <p:nvPr/>
        </p:nvSpPr>
        <p:spPr>
          <a:xfrm>
            <a:off x="3020961" y="235973"/>
            <a:ext cx="6150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Dashboard 2 –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1615B-DC08-A130-2527-B8C6B7F94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6" y="943859"/>
            <a:ext cx="10432026" cy="585785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4021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DD704-A072-42D5-C672-34C8A91C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F10E8-B2DA-3149-A65A-31FE247FD2F3}"/>
              </a:ext>
            </a:extLst>
          </p:cNvPr>
          <p:cNvSpPr txBox="1"/>
          <p:nvPr/>
        </p:nvSpPr>
        <p:spPr>
          <a:xfrm>
            <a:off x="3020960" y="127818"/>
            <a:ext cx="6150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Dashboard 3 –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92012-8B28-592D-A6FD-A4E9BCFCC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79" y="899232"/>
            <a:ext cx="10387641" cy="58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33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74770-287B-4C0F-CD3E-32E337509B3D}"/>
              </a:ext>
            </a:extLst>
          </p:cNvPr>
          <p:cNvSpPr txBox="1"/>
          <p:nvPr/>
        </p:nvSpPr>
        <p:spPr>
          <a:xfrm>
            <a:off x="3736257" y="530942"/>
            <a:ext cx="4719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75415-4F14-97F5-01D8-CA8BAC30B80D}"/>
              </a:ext>
            </a:extLst>
          </p:cNvPr>
          <p:cNvSpPr txBox="1"/>
          <p:nvPr/>
        </p:nvSpPr>
        <p:spPr>
          <a:xfrm>
            <a:off x="452284" y="2251587"/>
            <a:ext cx="11287431" cy="2585323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Insights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Majority loans issued for debt consolidation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Certain states show higher default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Longer employment length → better repayment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High DTI correlates with bad loans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68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F76F3-F067-969E-48CC-D15FB8BA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D63028-462D-6B93-BA19-FA9B48891963}"/>
              </a:ext>
            </a:extLst>
          </p:cNvPr>
          <p:cNvSpPr txBox="1"/>
          <p:nvPr/>
        </p:nvSpPr>
        <p:spPr>
          <a:xfrm>
            <a:off x="3446203" y="326208"/>
            <a:ext cx="529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  <a:latin typeface="Segoe "/>
              </a:rPr>
              <a:t>Conclusion &amp;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56648-19E1-5A28-E156-3E67FECB0B9C}"/>
              </a:ext>
            </a:extLst>
          </p:cNvPr>
          <p:cNvSpPr txBox="1"/>
          <p:nvPr/>
        </p:nvSpPr>
        <p:spPr>
          <a:xfrm>
            <a:off x="452282" y="1307691"/>
            <a:ext cx="11287431" cy="5293757"/>
          </a:xfrm>
          <a:prstGeom prst="rect">
            <a:avLst/>
          </a:prstGeom>
          <a:solidFill>
            <a:srgbClr val="001B50"/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Business Impact</a:t>
            </a:r>
            <a:endParaRPr lang="en-IN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Improved loan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Risk identification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Faster decision-making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Scalable dashboard solution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Future Enhancements</a:t>
            </a:r>
            <a:endParaRPr lang="en-IN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Credit score integration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Predictive default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Automation via scheduled refresh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410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279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</vt:lpstr>
      <vt:lpstr>Office Theme</vt:lpstr>
      <vt:lpstr>BANK LOAN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Dhanawade</dc:creator>
  <cp:lastModifiedBy>Shraddha Dhanawade</cp:lastModifiedBy>
  <cp:revision>1</cp:revision>
  <dcterms:created xsi:type="dcterms:W3CDTF">2026-01-16T17:56:14Z</dcterms:created>
  <dcterms:modified xsi:type="dcterms:W3CDTF">2026-01-16T19:20:28Z</dcterms:modified>
</cp:coreProperties>
</file>